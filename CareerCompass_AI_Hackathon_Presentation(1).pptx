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napToGrid="0" snapToObjects="1">
      <p:cViewPr varScale="1">
        <p:scale>
          <a:sx n="50" d="100"/>
          <a:sy n="50" d="100"/>
        </p:scale>
        <p:origin x="-758" y="-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304800" y="329184"/>
            <a:ext cx="8532055" cy="6196819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0" name="Rounded Rectangle 9"/>
          <p:cNvSpPr/>
          <p:nvPr/>
        </p:nvSpPr>
        <p:spPr>
          <a:xfrm>
            <a:off x="418596" y="434162"/>
            <a:ext cx="8306809" cy="3108960"/>
          </a:xfrm>
          <a:prstGeom prst="roundRect">
            <a:avLst>
              <a:gd name="adj" fmla="val 4578"/>
            </a:avLst>
          </a:prstGeom>
          <a:gradFill rotWithShape="1">
            <a:gsLst>
              <a:gs pos="0">
                <a:schemeClr val="bg1">
                  <a:tint val="75000"/>
                  <a:satMod val="150000"/>
                </a:schemeClr>
              </a:gs>
              <a:gs pos="55000">
                <a:schemeClr val="bg1">
                  <a:shade val="75000"/>
                  <a:satMod val="100000"/>
                </a:schemeClr>
              </a:gs>
              <a:gs pos="100000">
                <a:schemeClr val="bg1">
                  <a:shade val="35000"/>
                  <a:satMod val="100000"/>
                </a:schemeClr>
              </a:gs>
            </a:gsLst>
            <a:path path="circle">
              <a:fillToRect l="50000" t="175000" r="50000" b="-75000"/>
            </a:path>
          </a:gra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722376" y="1820206"/>
            <a:ext cx="7772400" cy="1828800"/>
          </a:xfrm>
        </p:spPr>
        <p:txBody>
          <a:bodyPr lIns="45720" rIns="45720" bIns="45720"/>
          <a:lstStyle>
            <a:lvl1pPr algn="r">
              <a:defRPr sz="4500" b="1">
                <a:solidFill>
                  <a:schemeClr val="accent1">
                    <a:tint val="88000"/>
                    <a:satMod val="150000"/>
                  </a:schemeClr>
                </a:solidFill>
                <a:effectLst>
                  <a:outerShdw blurRad="53975" dist="22860" dir="5400000" algn="tl" rotWithShape="0">
                    <a:srgbClr val="000000">
                      <a:alpha val="5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0" name="Subtitle 19"/>
          <p:cNvSpPr>
            <a:spLocks noGrp="1"/>
          </p:cNvSpPr>
          <p:nvPr>
            <p:ph type="subTitle" idx="1"/>
          </p:nvPr>
        </p:nvSpPr>
        <p:spPr>
          <a:xfrm>
            <a:off x="722376" y="3685032"/>
            <a:ext cx="7772400" cy="914400"/>
          </a:xfrm>
        </p:spPr>
        <p:txBody>
          <a:bodyPr lIns="182880" tIns="0"/>
          <a:lstStyle>
            <a:lvl1pPr marL="36576" indent="0" algn="r">
              <a:spcBef>
                <a:spcPts val="0"/>
              </a:spcBef>
              <a:buNone/>
              <a:defRPr sz="2000">
                <a:solidFill>
                  <a:schemeClr val="bg2">
                    <a:shade val="25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19" name="Date Placeholder 1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pPr/>
              <a:t>6/23/2026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4983480"/>
            <a:ext cx="8183880" cy="1051560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920" y="530352"/>
            <a:ext cx="8183880" cy="4187952"/>
          </a:xfrm>
        </p:spPr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pPr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304800" y="329184"/>
            <a:ext cx="8532055" cy="6196819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Rounded Rectangle 10"/>
          <p:cNvSpPr/>
          <p:nvPr/>
        </p:nvSpPr>
        <p:spPr>
          <a:xfrm>
            <a:off x="418596" y="434162"/>
            <a:ext cx="8306809" cy="4341329"/>
          </a:xfrm>
          <a:prstGeom prst="roundRect">
            <a:avLst>
              <a:gd name="adj" fmla="val 2127"/>
            </a:avLst>
          </a:prstGeom>
          <a:gradFill rotWithShape="1">
            <a:gsLst>
              <a:gs pos="0">
                <a:schemeClr val="bg1">
                  <a:tint val="75000"/>
                  <a:satMod val="150000"/>
                </a:schemeClr>
              </a:gs>
              <a:gs pos="55000">
                <a:schemeClr val="bg1">
                  <a:shade val="75000"/>
                  <a:satMod val="100000"/>
                </a:schemeClr>
              </a:gs>
              <a:gs pos="100000">
                <a:schemeClr val="bg1">
                  <a:shade val="35000"/>
                  <a:satMod val="100000"/>
                </a:schemeClr>
              </a:gs>
            </a:gsLst>
            <a:path path="circle">
              <a:fillToRect l="50000" t="175000" r="50000" b="-75000"/>
            </a:path>
          </a:gra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344" y="4928616"/>
            <a:ext cx="8183880" cy="676656"/>
          </a:xfrm>
        </p:spPr>
        <p:txBody>
          <a:bodyPr lIns="91440" bIns="0" anchor="b"/>
          <a:lstStyle>
            <a:lvl1pPr algn="l">
              <a:buNone/>
              <a:defRPr sz="3600" b="0" cap="none" baseline="0">
                <a:solidFill>
                  <a:schemeClr val="bg2">
                    <a:shade val="25000"/>
                  </a:schemeClr>
                </a:soli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344" y="5624484"/>
            <a:ext cx="8183880" cy="420624"/>
          </a:xfrm>
        </p:spPr>
        <p:txBody>
          <a:bodyPr lIns="118872" tIns="0" anchor="t"/>
          <a:lstStyle>
            <a:lvl1pPr marL="0" marR="36576" indent="0" algn="l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chemeClr val="accent1">
                    <a:shade val="50000"/>
                    <a:satMod val="110000"/>
                  </a:schemeClr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pPr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4352" y="530352"/>
            <a:ext cx="3931920" cy="4389120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55360" y="530352"/>
            <a:ext cx="3931920" cy="4389120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pPr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4983480"/>
            <a:ext cx="8183880" cy="1051560"/>
          </a:xfrm>
        </p:spPr>
        <p:txBody>
          <a:bodyPr anchor="b"/>
          <a:lstStyle>
            <a:lvl1pPr>
              <a:defRPr b="1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7224" y="579438"/>
            <a:ext cx="3931920" cy="792162"/>
          </a:xfrm>
        </p:spPr>
        <p:txBody>
          <a:bodyPr lIns="146304" anchor="ctr"/>
          <a:lstStyle>
            <a:lvl1pPr marL="0" indent="0" algn="l">
              <a:buNone/>
              <a:defRPr sz="2400" b="1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52169" y="579438"/>
            <a:ext cx="3931920" cy="792162"/>
          </a:xfrm>
        </p:spPr>
        <p:txBody>
          <a:bodyPr lIns="137160" anchor="ctr"/>
          <a:lstStyle>
            <a:lvl1pPr marL="0" indent="0" algn="l">
              <a:buNone/>
              <a:defRPr sz="2400" b="1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607224" y="1447800"/>
            <a:ext cx="3931920" cy="3489960"/>
          </a:xfrm>
        </p:spPr>
        <p:txBody>
          <a:bodyPr anchor="t"/>
          <a:lstStyle>
            <a:lvl1pPr algn="l">
              <a:defRPr sz="2400"/>
            </a:lvl1pPr>
            <a:lvl2pPr algn="l">
              <a:defRPr sz="2000"/>
            </a:lvl2pPr>
            <a:lvl3pPr algn="l">
              <a:defRPr sz="1800"/>
            </a:lvl3pPr>
            <a:lvl4pPr algn="l">
              <a:defRPr sz="1600"/>
            </a:lvl4pPr>
            <a:lvl5pPr algn="l"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52169" y="1447800"/>
            <a:ext cx="3931920" cy="3489960"/>
          </a:xfrm>
        </p:spPr>
        <p:txBody>
          <a:bodyPr anchor="t"/>
          <a:lstStyle>
            <a:lvl1pPr algn="l">
              <a:defRPr sz="2400"/>
            </a:lvl1pPr>
            <a:lvl2pPr algn="l">
              <a:defRPr sz="2000"/>
            </a:lvl2pPr>
            <a:lvl3pPr algn="l">
              <a:defRPr sz="1800"/>
            </a:lvl3pPr>
            <a:lvl4pPr algn="l">
              <a:defRPr sz="1600"/>
            </a:lvl4pPr>
            <a:lvl5pPr algn="l"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pPr/>
              <a:t>6/23/2026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pPr/>
              <a:t>6/23/2026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/>
        </p:nvSpPr>
        <p:spPr>
          <a:xfrm>
            <a:off x="304800" y="329184"/>
            <a:ext cx="8532055" cy="6196819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pPr/>
              <a:t>6/23/2026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38784" y="533400"/>
            <a:ext cx="2971800" cy="914400"/>
          </a:xfrm>
        </p:spPr>
        <p:txBody>
          <a:bodyPr anchor="b"/>
          <a:lstStyle>
            <a:lvl1pPr algn="l">
              <a:buNone/>
              <a:defRPr sz="2200" b="1">
                <a:solidFill>
                  <a:schemeClr val="accent1"/>
                </a:solidFill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5538847" y="1447802"/>
            <a:ext cx="2971800" cy="4206112"/>
          </a:xfrm>
        </p:spPr>
        <p:txBody>
          <a:bodyPr lIns="91440"/>
          <a:lstStyle>
            <a:lvl1pPr marL="18288" marR="18288" indent="0"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  <a:lvl2pPr>
              <a:buNone/>
              <a:defRPr sz="1200">
                <a:solidFill>
                  <a:schemeClr val="tx1"/>
                </a:solidFill>
              </a:defRPr>
            </a:lvl2pPr>
            <a:lvl3pPr>
              <a:buNone/>
              <a:defRPr sz="1000">
                <a:solidFill>
                  <a:schemeClr val="tx1"/>
                </a:solidFill>
              </a:defRPr>
            </a:lvl3pPr>
            <a:lvl4pPr>
              <a:buNone/>
              <a:defRPr sz="900">
                <a:solidFill>
                  <a:schemeClr val="tx1"/>
                </a:solidFill>
              </a:defRPr>
            </a:lvl4pPr>
            <a:lvl5pPr>
              <a:buNone/>
              <a:defRPr sz="900">
                <a:solidFill>
                  <a:schemeClr val="tx1"/>
                </a:solidFill>
              </a:defRPr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761372" y="930144"/>
            <a:ext cx="4626159" cy="4724402"/>
          </a:xfrm>
        </p:spPr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  <a:lvl2pPr>
              <a:defRPr sz="2600">
                <a:solidFill>
                  <a:schemeClr val="tx1"/>
                </a:solidFill>
              </a:defRPr>
            </a:lvl2pPr>
            <a:lvl3pPr>
              <a:defRPr sz="2400">
                <a:solidFill>
                  <a:schemeClr val="tx1"/>
                </a:solidFill>
              </a:defRPr>
            </a:lvl3pPr>
            <a:lvl4pPr>
              <a:defRPr sz="2000">
                <a:solidFill>
                  <a:schemeClr val="tx1"/>
                </a:solidFill>
              </a:defRPr>
            </a:lvl4pPr>
            <a:lvl5pPr>
              <a:defRPr sz="2000">
                <a:solidFill>
                  <a:schemeClr val="tx1"/>
                </a:solidFill>
              </a:defRPr>
            </a:lvl5pPr>
            <a:lvl6pPr>
              <a:buNone/>
              <a:defRPr/>
            </a:lvl6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pPr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304800" y="329184"/>
            <a:ext cx="8532055" cy="6196819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Round Single Corner Rectangle 10"/>
          <p:cNvSpPr/>
          <p:nvPr/>
        </p:nvSpPr>
        <p:spPr>
          <a:xfrm>
            <a:off x="6400800" y="434162"/>
            <a:ext cx="2324605" cy="4343400"/>
          </a:xfrm>
          <a:prstGeom prst="round1Rect">
            <a:avLst>
              <a:gd name="adj" fmla="val 2748"/>
            </a:avLst>
          </a:prstGeom>
          <a:solidFill>
            <a:srgbClr val="1C1C1C"/>
          </a:soli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12056"/>
            <a:ext cx="8229600" cy="1051560"/>
          </a:xfrm>
        </p:spPr>
        <p:txBody>
          <a:bodyPr anchor="t"/>
          <a:lstStyle>
            <a:lvl1pPr algn="l">
              <a:buNone/>
              <a:defRPr sz="3600" b="0">
                <a:solidFill>
                  <a:schemeClr val="bg2">
                    <a:shade val="25000"/>
                  </a:schemeClr>
                </a:soli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White">
          <a:xfrm>
            <a:off x="6462712" y="533400"/>
            <a:ext cx="2240280" cy="4211480"/>
          </a:xfrm>
        </p:spPr>
        <p:txBody>
          <a:bodyPr lIns="91440"/>
          <a:lstStyle>
            <a:lvl1pPr marL="45720" indent="0" algn="l">
              <a:spcBef>
                <a:spcPts val="0"/>
              </a:spcBef>
              <a:buNone/>
              <a:defRPr sz="1400">
                <a:solidFill>
                  <a:srgbClr val="FFFFFF"/>
                </a:solidFill>
              </a:defRPr>
            </a:lvl1pPr>
            <a:lvl2pPr>
              <a:defRPr sz="1200">
                <a:solidFill>
                  <a:srgbClr val="FFFFFF"/>
                </a:solidFill>
              </a:defRPr>
            </a:lvl2pPr>
            <a:lvl3pPr>
              <a:defRPr sz="1000">
                <a:solidFill>
                  <a:srgbClr val="FFFFFF"/>
                </a:solidFill>
              </a:defRPr>
            </a:lvl3pPr>
            <a:lvl4pPr>
              <a:defRPr sz="900">
                <a:solidFill>
                  <a:srgbClr val="FFFFFF"/>
                </a:solidFill>
              </a:defRPr>
            </a:lvl4pPr>
            <a:lvl5pPr>
              <a:defRPr sz="900">
                <a:solidFill>
                  <a:srgbClr val="FFFFFF"/>
                </a:solidFill>
              </a:defRPr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pPr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21480" y="435768"/>
            <a:ext cx="5925312" cy="4343400"/>
          </a:xfrm>
          <a:prstGeom prst="snipRoundRect">
            <a:avLst>
              <a:gd name="adj1" fmla="val 1040"/>
              <a:gd name="adj2" fmla="val 0"/>
            </a:avLst>
          </a:prstGeom>
          <a:solidFill>
            <a:schemeClr val="bg2">
              <a:shade val="10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4983480"/>
            <a:ext cx="8183880" cy="1051560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2920" y="530352"/>
            <a:ext cx="8183880" cy="4187952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pPr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533404"/>
            <a:ext cx="1981200" cy="5257799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533402"/>
            <a:ext cx="5943600" cy="525780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pPr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/>
        </p:nvSpPr>
        <p:spPr>
          <a:xfrm>
            <a:off x="304800" y="329184"/>
            <a:ext cx="8532055" cy="6196819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Rounded Rectangle 8"/>
          <p:cNvSpPr/>
          <p:nvPr/>
        </p:nvSpPr>
        <p:spPr>
          <a:xfrm>
            <a:off x="418596" y="434162"/>
            <a:ext cx="8306809" cy="5486400"/>
          </a:xfrm>
          <a:prstGeom prst="roundRect">
            <a:avLst>
              <a:gd name="adj" fmla="val 2127"/>
            </a:avLst>
          </a:prstGeom>
          <a:gradFill rotWithShape="1">
            <a:gsLst>
              <a:gs pos="0">
                <a:schemeClr val="bg1">
                  <a:tint val="75000"/>
                  <a:satMod val="150000"/>
                </a:schemeClr>
              </a:gs>
              <a:gs pos="55000">
                <a:schemeClr val="bg1">
                  <a:shade val="75000"/>
                  <a:satMod val="100000"/>
                </a:schemeClr>
              </a:gs>
              <a:gs pos="100000">
                <a:schemeClr val="bg1">
                  <a:shade val="35000"/>
                  <a:satMod val="100000"/>
                </a:schemeClr>
              </a:gs>
            </a:gsLst>
            <a:path path="circle">
              <a:fillToRect l="50000" t="175000" r="50000" b="-75000"/>
            </a:path>
          </a:gra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3" name="Title Placeholder 12"/>
          <p:cNvSpPr>
            <a:spLocks noGrp="1"/>
          </p:cNvSpPr>
          <p:nvPr>
            <p:ph type="title"/>
          </p:nvPr>
        </p:nvSpPr>
        <p:spPr>
          <a:xfrm>
            <a:off x="502920" y="4985590"/>
            <a:ext cx="8183880" cy="1051560"/>
          </a:xfrm>
          <a:prstGeom prst="rect">
            <a:avLst/>
          </a:prstGeom>
        </p:spPr>
        <p:txBody>
          <a:bodyPr vert="horz" anchor="b">
            <a:normAutofit/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502920" y="530352"/>
            <a:ext cx="8183880" cy="4187952"/>
          </a:xfrm>
          <a:prstGeom prst="rect">
            <a:avLst/>
          </a:prstGeom>
        </p:spPr>
        <p:txBody>
          <a:bodyPr vert="horz" lIns="182880" tIns="91440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5" name="Date Placeholder 24"/>
          <p:cNvSpPr>
            <a:spLocks noGrp="1"/>
          </p:cNvSpPr>
          <p:nvPr>
            <p:ph type="dt" sz="half" idx="2"/>
          </p:nvPr>
        </p:nvSpPr>
        <p:spPr>
          <a:xfrm>
            <a:off x="3776328" y="6111875"/>
            <a:ext cx="228600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bg2">
                    <a:shade val="50000"/>
                  </a:schemeClr>
                </a:solidFill>
              </a:defRPr>
            </a:lvl1pPr>
            <a:extLst/>
          </a:lstStyle>
          <a:p>
            <a:fld id="{5BCAD085-E8A6-8845-BD4E-CB4CCA059FC4}" type="datetimeFigureOut">
              <a:rPr lang="en-US" smtClean="0"/>
              <a:pPr/>
              <a:t>6/23/2026</a:t>
            </a:fld>
            <a:endParaRPr lang="en-US"/>
          </a:p>
        </p:txBody>
      </p:sp>
      <p:sp>
        <p:nvSpPr>
          <p:cNvPr id="18" name="Footer Placeholder 17"/>
          <p:cNvSpPr>
            <a:spLocks noGrp="1"/>
          </p:cNvSpPr>
          <p:nvPr>
            <p:ph type="ftr" sz="quarter" idx="3"/>
          </p:nvPr>
        </p:nvSpPr>
        <p:spPr>
          <a:xfrm>
            <a:off x="6062328" y="6111875"/>
            <a:ext cx="22860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bg2">
                    <a:shade val="50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8348328" y="6111875"/>
            <a:ext cx="45720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bg2">
                    <a:shade val="50000"/>
                  </a:schemeClr>
                </a:solidFill>
              </a:defRPr>
            </a:lvl1pPr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rtl="0" eaLnBrk="1" latinLnBrk="0" hangingPunct="1">
        <a:spcBef>
          <a:spcPct val="0"/>
        </a:spcBef>
        <a:buNone/>
        <a:defRPr kumimoji="0" sz="3600" b="1" kern="1200">
          <a:solidFill>
            <a:schemeClr val="accent1">
              <a:tint val="88000"/>
              <a:satMod val="150000"/>
            </a:schemeClr>
          </a:solidFill>
          <a:effectLst>
            <a:outerShdw blurRad="53975" dist="22860" dir="5400000" algn="tl" rotWithShape="0">
              <a:srgbClr val="000000">
                <a:alpha val="5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265176" indent="-265176" algn="l" rtl="0" eaLnBrk="1" latinLnBrk="0" hangingPunct="1">
        <a:spcBef>
          <a:spcPts val="250"/>
        </a:spcBef>
        <a:buClr>
          <a:schemeClr val="accent1"/>
        </a:buClr>
        <a:buSzPct val="80000"/>
        <a:buFont typeface="Wingdings 2"/>
        <a:buChar char=""/>
        <a:defRPr kumimoji="0" sz="28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548640" indent="-201168" algn="l" rtl="0" eaLnBrk="1" latinLnBrk="0" hangingPunct="1">
        <a:spcBef>
          <a:spcPts val="250"/>
        </a:spcBef>
        <a:buClr>
          <a:schemeClr val="accent1"/>
        </a:buClr>
        <a:buSzPct val="100000"/>
        <a:buFont typeface="Verdana"/>
        <a:buChar char="◦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786384" indent="-182880" algn="l" rtl="0" eaLnBrk="1" latinLnBrk="0" hangingPunct="1">
        <a:spcBef>
          <a:spcPts val="250"/>
        </a:spcBef>
        <a:buClr>
          <a:schemeClr val="accent2">
            <a:tint val="85000"/>
            <a:satMod val="285000"/>
          </a:schemeClr>
        </a:buClr>
        <a:buSzPct val="100000"/>
        <a:buFont typeface="Wingdings 2"/>
        <a:buChar char="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024128" indent="-182880" algn="l" rtl="0" eaLnBrk="1" latinLnBrk="0" hangingPunct="1">
        <a:spcBef>
          <a:spcPts val="230"/>
        </a:spcBef>
        <a:buClr>
          <a:schemeClr val="accent2">
            <a:tint val="85000"/>
            <a:satMod val="285000"/>
          </a:schemeClr>
        </a:buClr>
        <a:buSzPct val="112000"/>
        <a:buFont typeface="Verdana"/>
        <a:buChar char="◦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rtl="0" eaLnBrk="1" latinLnBrk="0" hangingPunct="1">
        <a:spcBef>
          <a:spcPts val="250"/>
        </a:spcBef>
        <a:buClr>
          <a:schemeClr val="accent3">
            <a:tint val="85000"/>
            <a:satMod val="275000"/>
          </a:schemeClr>
        </a:buClr>
        <a:buSzPct val="100000"/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490472" indent="-182880" algn="l" rtl="0" eaLnBrk="1" latinLnBrk="0" hangingPunct="1">
        <a:spcBef>
          <a:spcPts val="250"/>
        </a:spcBef>
        <a:buClr>
          <a:schemeClr val="accent3">
            <a:tint val="85000"/>
            <a:satMod val="275000"/>
          </a:schemeClr>
        </a:buClr>
        <a:buSzPct val="100000"/>
        <a:buFont typeface="Verdana"/>
        <a:buChar char="◦"/>
        <a:defRPr kumimoji="0" sz="17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700784" indent="-182880" algn="l" rtl="0" eaLnBrk="1" latinLnBrk="0" hangingPunct="1">
        <a:spcBef>
          <a:spcPts val="255"/>
        </a:spcBef>
        <a:buClr>
          <a:schemeClr val="accent3">
            <a:tint val="85000"/>
            <a:satMod val="275000"/>
          </a:schemeClr>
        </a:buClr>
        <a:buSzPct val="100000"/>
        <a:buFont typeface="Wingdings 2"/>
        <a:buChar char="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spcBef>
          <a:spcPts val="257"/>
        </a:spcBef>
        <a:buClr>
          <a:schemeClr val="accent3">
            <a:tint val="85000"/>
            <a:satMod val="275000"/>
          </a:schemeClr>
        </a:buClr>
        <a:buSzPct val="100000"/>
        <a:buFont typeface="Verdana"/>
        <a:buChar char="◦"/>
        <a:defRPr kumimoji="0" sz="15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148840" indent="-182880" algn="l" rtl="0" eaLnBrk="1" latinLnBrk="0" hangingPunct="1">
        <a:spcBef>
          <a:spcPts val="255"/>
        </a:spcBef>
        <a:buClr>
          <a:schemeClr val="accent3">
            <a:tint val="85000"/>
            <a:satMod val="275000"/>
          </a:schemeClr>
        </a:buClr>
        <a:buSzPct val="100000"/>
        <a:buFont typeface="Wingdings 2"/>
        <a:buChar char="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CareerCompass AI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Kaman Das</a:t>
            </a:r>
          </a:p>
          <a:p>
            <a:r>
              <a:t>Smart Career Guidance Platform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Brief About the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CareerCompass AI is an AI-powered platform that analyzes interests, skills, subjects, and personality traits to provide personalized career recommendations, roadmaps, learning resources, and project ideas.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Opportunities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a. Personalized guidance unlike generic portals.</a:t>
            </a:r>
          </a:p>
          <a:p>
            <a:endParaRPr/>
          </a:p>
          <a:p>
            <a:r>
              <a:t>b. Reduces career confusion using AI analysis.</a:t>
            </a:r>
          </a:p>
          <a:p>
            <a:endParaRPr/>
          </a:p>
          <a:p>
            <a:r>
              <a:t>c. USP: Complete roadmap + resources + projects + demand insights.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Career Recommendations</a:t>
            </a:r>
          </a:p>
          <a:p>
            <a:r>
              <a:t>• Suitability Scores</a:t>
            </a:r>
          </a:p>
          <a:p>
            <a:r>
              <a:t>• Salary Estimation</a:t>
            </a:r>
          </a:p>
          <a:p>
            <a:r>
              <a:t>• Future Demand Analysis</a:t>
            </a:r>
          </a:p>
          <a:p>
            <a:r>
              <a:t>• Learning Roadmaps</a:t>
            </a:r>
          </a:p>
          <a:p>
            <a:r>
              <a:t>• Courses &amp; Certifications</a:t>
            </a:r>
          </a:p>
          <a:p>
            <a:r>
              <a:t>• YouTube Resources</a:t>
            </a:r>
          </a:p>
          <a:p>
            <a:r>
              <a:t>• Project Recommendations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Process Flow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Input → Frontend → Flask API → Gemini AI → Analysis Engine → Career Roadmap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Wireframes / Mock Diagrams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Profile Form</a:t>
            </a:r>
          </a:p>
          <a:p>
            <a:r>
              <a:t>→ Analyze Profile Button</a:t>
            </a:r>
          </a:p>
          <a:p>
            <a:r>
              <a:t>→ AI Career Cards</a:t>
            </a:r>
          </a:p>
          <a:p>
            <a:r>
              <a:t>→ Project Recommendations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Frontend (HTML/CSS/JS)</a:t>
            </a:r>
          </a:p>
          <a:p>
            <a:r>
              <a:t>↓</a:t>
            </a:r>
          </a:p>
          <a:p>
            <a:r>
              <a:t>Flask Backend</a:t>
            </a:r>
          </a:p>
          <a:p>
            <a:r>
              <a:t>↓</a:t>
            </a:r>
          </a:p>
          <a:p>
            <a:r>
              <a:t>Gemini 2.5 Flash</a:t>
            </a:r>
          </a:p>
          <a:p>
            <a:r>
              <a:t>↓</a:t>
            </a:r>
          </a:p>
          <a:p>
            <a:r>
              <a:t>Career Recommendation Engine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HTML, CSS, JavaScript</a:t>
            </a:r>
          </a:p>
          <a:p>
            <a:r>
              <a:t>Flask (Python)</a:t>
            </a:r>
          </a:p>
          <a:p>
            <a:r>
              <a:t>Gemini 2.5 Flash</a:t>
            </a:r>
          </a:p>
          <a:p>
            <a:r>
              <a:t>Neon PostgreSQL</a:t>
            </a:r>
          </a:p>
          <a:p>
            <a:r>
              <a:t>Render</a:t>
            </a:r>
          </a:p>
          <a:p>
            <a:r>
              <a:t>GitHub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MVP Snapshots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endParaRPr/>
          </a:p>
        </p:txBody>
      </p:sp>
      <p:pic>
        <p:nvPicPr>
          <p:cNvPr id="4" name="Picture 3" descr="Screenshot 2026-06-23 1716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84102"/>
            <a:ext cx="4114800" cy="1947987"/>
          </a:xfrm>
          <a:prstGeom prst="rect">
            <a:avLst/>
          </a:prstGeom>
        </p:spPr>
      </p:pic>
      <p:pic>
        <p:nvPicPr>
          <p:cNvPr id="5" name="Picture 4" descr="Screenshot 2026-06-23 17181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884102"/>
            <a:ext cx="4114800" cy="194369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Resume Builder</a:t>
            </a:r>
          </a:p>
          <a:p>
            <a:r>
              <a:t>Skill Gap Analysis</a:t>
            </a:r>
          </a:p>
          <a:p>
            <a:r>
              <a:t>Internship Recommendations</a:t>
            </a:r>
          </a:p>
          <a:p>
            <a:r>
              <a:t>Career Analytics</a:t>
            </a:r>
          </a:p>
          <a:p>
            <a:r>
              <a:t>Industry Trends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Links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GitHub:</a:t>
            </a:r>
          </a:p>
          <a:p>
            <a:r>
              <a:t>https://github.com/kamandas-108/CareerCompass-AI</a:t>
            </a:r>
          </a:p>
          <a:p>
            <a:endParaRPr/>
          </a:p>
          <a:p>
            <a:r>
              <a:t>Prototype:</a:t>
            </a:r>
          </a:p>
          <a:p>
            <a:r>
              <a:t>https://kamandas-108.github.io/CareerCompass-AI/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4718304"/>
            <a:ext cx="3992880" cy="1316736"/>
          </a:xfrm>
        </p:spPr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endParaRPr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spect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Aspect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A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atMod val="270000"/>
              </a:schemeClr>
            </a:gs>
            <a:gs pos="25000">
              <a:schemeClr val="phClr">
                <a:tint val="60000"/>
                <a:satMod val="300000"/>
              </a:schemeClr>
            </a:gs>
            <a:gs pos="100000">
              <a:schemeClr val="phClr">
                <a:tint val="29000"/>
                <a:satMod val="40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5000"/>
                <a:satMod val="155000"/>
              </a:schemeClr>
            </a:gs>
            <a:gs pos="60000">
              <a:schemeClr val="phClr">
                <a:shade val="95000"/>
                <a:satMod val="150000"/>
              </a:schemeClr>
            </a:gs>
            <a:gs pos="100000">
              <a:schemeClr val="phClr">
                <a:tint val="87000"/>
                <a:satMod val="2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atMod val="150000"/>
            </a:schemeClr>
          </a:solidFill>
          <a:prstDash val="solid"/>
        </a:ln>
        <a:ln w="425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2000000"/>
            </a:lightRig>
          </a:scene3d>
          <a:sp3d prstMaterial="powder">
            <a:bevelT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35000"/>
                <a:satMod val="150000"/>
              </a:schemeClr>
            </a:gs>
            <a:gs pos="45000">
              <a:schemeClr val="phClr">
                <a:shade val="68000"/>
                <a:satMod val="155000"/>
              </a:schemeClr>
            </a:gs>
            <a:gs pos="100000">
              <a:schemeClr val="phClr">
                <a:tint val="70000"/>
                <a:satMod val="175000"/>
              </a:schemeClr>
            </a:gs>
          </a:gsLst>
          <a:lin ang="16200000" scaled="0"/>
        </a:gradFill>
        <a:blipFill>
          <a:blip xmlns:r="http://schemas.openxmlformats.org/officeDocument/2006/relationships" r:embed="rId1">
            <a:duotone>
              <a:schemeClr val="phClr">
                <a:shade val="800"/>
                <a:satMod val="150000"/>
              </a:schemeClr>
              <a:schemeClr val="phClr">
                <a:tint val="80000"/>
                <a:satMod val="150000"/>
              </a:schemeClr>
            </a:duotone>
          </a:blip>
          <a:tile tx="0" ty="0" sx="75000" sy="7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Aspect</Template>
  <TotalTime>3</TotalTime>
  <Words>205</Words>
  <Application>Microsoft Macintosh PowerPoint</Application>
  <PresentationFormat>On-screen Show (4:3)</PresentationFormat>
  <Paragraphs>56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Aspect</vt:lpstr>
      <vt:lpstr>CareerCompass AI</vt:lpstr>
      <vt:lpstr>Brief About the Solution</vt:lpstr>
      <vt:lpstr>Opportunities</vt:lpstr>
      <vt:lpstr>Features</vt:lpstr>
      <vt:lpstr>Process Flow Diagram</vt:lpstr>
      <vt:lpstr>Wireframes / Mock Diagrams</vt:lpstr>
      <vt:lpstr>Architecture Diagram</vt:lpstr>
      <vt:lpstr>Technologies Used</vt:lpstr>
      <vt:lpstr>MVP Snapshots</vt:lpstr>
      <vt:lpstr>Future Development</vt:lpstr>
      <vt:lpstr>Project Links</vt:lpstr>
      <vt:lpstr>Thank You</vt:lpstr>
    </vt:vector>
  </TitlesOfParts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CareerCompass AI</dc:title>
  <dc:creator>Manas Das</dc:creator>
  <dc:description>generated using python-pptx</dc:description>
  <cp:lastModifiedBy>Manas Das</cp:lastModifiedBy>
  <cp:revision>2</cp:revision>
  <dcterms:created xsi:type="dcterms:W3CDTF">2013-01-27T09:14:16Z</dcterms:created>
  <dcterms:modified xsi:type="dcterms:W3CDTF">2026-06-23T15:57:14Z</dcterms:modified>
</cp:coreProperties>
</file>